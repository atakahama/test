
<file path=[Content_Types].xml><?xml version="1.0" encoding="utf-8"?>
<Types xmlns="http://schemas.openxmlformats.org/package/2006/content-types">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8" r:id="rId2"/>
    <p:sldId id="259" r:id="rId3"/>
    <p:sldId id="262" r:id="rId4"/>
    <p:sldId id="257" r:id="rId5"/>
    <p:sldId id="261" r:id="rId6"/>
  </p:sldIdLst>
  <p:sldSz cx="9144000" cy="5143500" type="screen16x9"/>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844" autoAdjust="0"/>
  </p:normalViewPr>
  <p:slideViewPr>
    <p:cSldViewPr>
      <p:cViewPr>
        <p:scale>
          <a:sx n="125" d="100"/>
          <a:sy n="125" d="100"/>
        </p:scale>
        <p:origin x="-702" y="-606"/>
      </p:cViewPr>
      <p:guideLst>
        <p:guide orient="horz" pos="1620"/>
        <p:guide pos="2880"/>
      </p:guideLst>
    </p:cSldViewPr>
  </p:slideViewPr>
  <p:notesTextViewPr>
    <p:cViewPr>
      <p:scale>
        <a:sx n="100" d="100"/>
        <a:sy n="100" d="100"/>
      </p:scale>
      <p:origin x="0" y="0"/>
    </p:cViewPr>
  </p:notesTextViewPr>
  <p:notesViewPr>
    <p:cSldViewPr>
      <p:cViewPr varScale="1">
        <p:scale>
          <a:sx n="103" d="100"/>
          <a:sy n="103" d="100"/>
        </p:scale>
        <p:origin x="-3798" y="-96"/>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5F8817-26CF-45EC-8058-7967DA5B332A}" type="datetimeFigureOut">
              <a:rPr kumimoji="1" lang="ja-JP" altLang="en-US" smtClean="0"/>
              <a:t>2025/3/1</a:t>
            </a:fld>
            <a:endParaRPr kumimoji="1" lang="ja-JP" altLang="en-US"/>
          </a:p>
        </p:txBody>
      </p:sp>
      <p:sp>
        <p:nvSpPr>
          <p:cNvPr id="4" name="スライド イメージ プレースホルダ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A9A426F-D8F7-4528-A2B5-B37232EFE2B5}" type="slidenum">
              <a:rPr kumimoji="1" lang="ja-JP" altLang="en-US" smtClean="0"/>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クォータニオンは、例えば、</a:t>
            </a:r>
            <a:r>
              <a:rPr kumimoji="1" lang="en-US" altLang="ja-JP" dirty="0" smtClean="0"/>
              <a:t>Eigen</a:t>
            </a:r>
            <a:r>
              <a:rPr kumimoji="1" lang="ja-JP" altLang="en-US" dirty="0" smtClean="0"/>
              <a:t>ライブラリでも使用されているハミルトン慣例を使用して定義されます。投影</a:t>
            </a:r>
            <a:r>
              <a:rPr kumimoji="1" lang="en-US" altLang="ja-JP" dirty="0" smtClean="0"/>
              <a:t>/</a:t>
            </a:r>
            <a:r>
              <a:rPr kumimoji="1" lang="ja-JP" altLang="en-US" dirty="0" smtClean="0"/>
              <a:t>カメラ中心の座標は </a:t>
            </a:r>
            <a:r>
              <a:rPr kumimoji="1" lang="en-US" altLang="ja-JP" dirty="0" smtClean="0"/>
              <a:t>-</a:t>
            </a:r>
            <a:r>
              <a:rPr kumimoji="1" lang="en-US" altLang="ja-JP" dirty="0" err="1" smtClean="0"/>
              <a:t>R^t</a:t>
            </a:r>
            <a:r>
              <a:rPr kumimoji="1" lang="en-US" altLang="ja-JP" dirty="0" smtClean="0"/>
              <a:t> * T </a:t>
            </a:r>
            <a:r>
              <a:rPr kumimoji="1" lang="ja-JP" altLang="en-US" dirty="0" smtClean="0"/>
              <a:t>で与えられ、 </a:t>
            </a:r>
            <a:r>
              <a:rPr kumimoji="1" lang="en-US" altLang="ja-JP" dirty="0" err="1" smtClean="0"/>
              <a:t>R^t</a:t>
            </a:r>
            <a:r>
              <a:rPr kumimoji="1" lang="en-US" altLang="ja-JP" dirty="0" smtClean="0"/>
              <a:t> </a:t>
            </a:r>
            <a:r>
              <a:rPr kumimoji="1" lang="ja-JP" altLang="en-US" dirty="0" smtClean="0"/>
              <a:t>は四元数から構成される </a:t>
            </a:r>
            <a:r>
              <a:rPr kumimoji="1" lang="en-US" altLang="ja-JP" dirty="0" smtClean="0"/>
              <a:t>3x3 </a:t>
            </a:r>
            <a:r>
              <a:rPr kumimoji="1" lang="ja-JP" altLang="en-US" dirty="0" smtClean="0"/>
              <a:t>回転行列の逆行列</a:t>
            </a:r>
            <a:r>
              <a:rPr kumimoji="1" lang="en-US" altLang="ja-JP" dirty="0" smtClean="0"/>
              <a:t>/</a:t>
            </a:r>
            <a:r>
              <a:rPr kumimoji="1" lang="ja-JP" altLang="en-US" dirty="0" smtClean="0"/>
              <a:t>転置行列、 </a:t>
            </a:r>
            <a:r>
              <a:rPr kumimoji="1" lang="en-US" altLang="ja-JP" dirty="0" smtClean="0"/>
              <a:t>T </a:t>
            </a:r>
            <a:r>
              <a:rPr kumimoji="1" lang="ja-JP" altLang="en-US" dirty="0" smtClean="0"/>
              <a:t>は並進ベクトルです。画像のカ メ ラ ローカル座標系は、 画像か ら見て </a:t>
            </a:r>
            <a:r>
              <a:rPr kumimoji="1" lang="en-US" altLang="ja-JP" dirty="0" smtClean="0"/>
              <a:t>X </a:t>
            </a:r>
            <a:r>
              <a:rPr kumimoji="1" lang="ja-JP" altLang="en-US" dirty="0" smtClean="0"/>
              <a:t>軸が右を、 </a:t>
            </a:r>
            <a:r>
              <a:rPr kumimoji="1" lang="en-US" altLang="ja-JP" dirty="0" smtClean="0"/>
              <a:t>Y </a:t>
            </a:r>
            <a:r>
              <a:rPr kumimoji="1" lang="ja-JP" altLang="en-US" dirty="0" smtClean="0"/>
              <a:t>軸が下を、 </a:t>
            </a:r>
            <a:r>
              <a:rPr kumimoji="1" lang="en-US" altLang="ja-JP" dirty="0" smtClean="0"/>
              <a:t>Z </a:t>
            </a:r>
            <a:r>
              <a:rPr kumimoji="1" lang="ja-JP" altLang="en-US" dirty="0" smtClean="0"/>
              <a:t>軸が正面を指 す よ う に定義 さ れます。</a:t>
            </a:r>
            <a:endParaRPr kumimoji="1" lang="ja-JP" altLang="en-US" dirty="0"/>
          </a:p>
        </p:txBody>
      </p:sp>
      <p:sp>
        <p:nvSpPr>
          <p:cNvPr id="4" name="スライド番号プレースホルダ 3"/>
          <p:cNvSpPr>
            <a:spLocks noGrp="1"/>
          </p:cNvSpPr>
          <p:nvPr>
            <p:ph type="sldNum" sz="quarter" idx="10"/>
          </p:nvPr>
        </p:nvSpPr>
        <p:spPr/>
        <p:txBody>
          <a:bodyPr/>
          <a:lstStyle/>
          <a:p>
            <a:fld id="{7A9A426F-D8F7-4528-A2B5-B37232EFE2B5}" type="slidenum">
              <a:rPr kumimoji="1" lang="ja-JP" altLang="en-US" smtClean="0"/>
              <a:t>1</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597819"/>
            <a:ext cx="7772400" cy="1102519"/>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2025/3/1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2025/3/1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3305176"/>
            <a:ext cx="7772400" cy="1021556"/>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2025/3/1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2025/3/1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2025/3/1</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2025/3/1</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2025/3/1</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1" y="204787"/>
            <a:ext cx="3008313" cy="8715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2025/3/1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3600450"/>
            <a:ext cx="5486400" cy="425054"/>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2025/3/1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2025/3/1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05979"/>
            <a:ext cx="2057400" cy="4388644"/>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05979"/>
            <a:ext cx="6019800" cy="4388644"/>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2025/3/1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2025/3/1</a:t>
            </a:fld>
            <a:endParaRPr kumimoji="1" lang="ja-JP" altLang="en-US"/>
          </a:p>
        </p:txBody>
      </p:sp>
      <p:sp>
        <p:nvSpPr>
          <p:cNvPr id="5" name="フッター プレースホルダ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github.com/colmap/colmap/blob/main/src/colmap/sensor/models.h"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github.com/colmap/colmap/blob/main/src/colmap/sensor/models.h"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github.com/ALBERT-Inc/NeRF-tutorial/blob/main/README.md"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err="1" smtClean="0"/>
              <a:t>Colmap</a:t>
            </a:r>
            <a:r>
              <a:rPr kumimoji="1" lang="ja-JP" altLang="en-US" dirty="0" smtClean="0"/>
              <a:t>出力</a:t>
            </a:r>
            <a:endParaRPr kumimoji="1" lang="ja-JP" altLang="en-US" dirty="0"/>
          </a:p>
        </p:txBody>
      </p:sp>
      <p:sp>
        <p:nvSpPr>
          <p:cNvPr id="3" name="コンテンツ プレースホルダ 2"/>
          <p:cNvSpPr>
            <a:spLocks noGrp="1"/>
          </p:cNvSpPr>
          <p:nvPr>
            <p:ph idx="1"/>
          </p:nvPr>
        </p:nvSpPr>
        <p:spPr>
          <a:xfrm>
            <a:off x="457200" y="1131590"/>
            <a:ext cx="7139136" cy="3816424"/>
          </a:xfrm>
        </p:spPr>
        <p:txBody>
          <a:bodyPr>
            <a:normAutofit fontScale="70000" lnSpcReduction="20000"/>
          </a:bodyPr>
          <a:lstStyle/>
          <a:p>
            <a:r>
              <a:rPr lang="en-US" altLang="ja-JP" sz="3000" dirty="0" smtClean="0"/>
              <a:t>c</a:t>
            </a:r>
            <a:r>
              <a:rPr kumimoji="1" lang="en-US" altLang="ja-JP" sz="3000" dirty="0" smtClean="0"/>
              <a:t>ameras.txt</a:t>
            </a:r>
          </a:p>
          <a:p>
            <a:pPr lvl="1"/>
            <a:r>
              <a:rPr lang="en-US" altLang="ja-JP" sz="1100" dirty="0" smtClean="0"/>
              <a:t>CAMERA_ID: COLMAP</a:t>
            </a:r>
            <a:r>
              <a:rPr lang="ja-JP" altLang="en-US" sz="1100" dirty="0" smtClean="0"/>
              <a:t>内のカメラ</a:t>
            </a:r>
            <a:r>
              <a:rPr lang="en-US" altLang="ja-JP" sz="1100" dirty="0" smtClean="0"/>
              <a:t>ID </a:t>
            </a:r>
          </a:p>
          <a:p>
            <a:pPr lvl="1"/>
            <a:r>
              <a:rPr lang="en-US" altLang="ja-JP" sz="1100" dirty="0" smtClean="0"/>
              <a:t>MODEL: </a:t>
            </a:r>
            <a:r>
              <a:rPr lang="ja-JP" altLang="en-US" sz="1100" dirty="0" smtClean="0"/>
              <a:t>推定時に指定したカメラモデル</a:t>
            </a:r>
          </a:p>
          <a:p>
            <a:pPr lvl="1"/>
            <a:r>
              <a:rPr lang="en-US" altLang="ja-JP" sz="1100" dirty="0" smtClean="0"/>
              <a:t>WIDTH: </a:t>
            </a:r>
            <a:r>
              <a:rPr lang="ja-JP" altLang="en-US" sz="1100" dirty="0" smtClean="0"/>
              <a:t>画像</a:t>
            </a:r>
            <a:r>
              <a:rPr lang="ja-JP" altLang="en-US" sz="1100" dirty="0" smtClean="0"/>
              <a:t>の</a:t>
            </a:r>
            <a:r>
              <a:rPr lang="ja-JP" altLang="en-US" sz="1100" dirty="0" smtClean="0"/>
              <a:t>幅</a:t>
            </a:r>
          </a:p>
          <a:p>
            <a:pPr lvl="1"/>
            <a:r>
              <a:rPr lang="en-US" altLang="ja-JP" sz="1100" dirty="0" smtClean="0"/>
              <a:t>HEIGHT: </a:t>
            </a:r>
            <a:r>
              <a:rPr lang="ja-JP" altLang="en-US" sz="1100" dirty="0" smtClean="0"/>
              <a:t>画像</a:t>
            </a:r>
            <a:r>
              <a:rPr lang="ja-JP" altLang="en-US" sz="1100" dirty="0" smtClean="0"/>
              <a:t>の高</a:t>
            </a:r>
            <a:endParaRPr lang="ja-JP" altLang="en-US" sz="1100" dirty="0" smtClean="0"/>
          </a:p>
          <a:p>
            <a:pPr lvl="1"/>
            <a:r>
              <a:rPr lang="en-US" altLang="ja-JP" sz="1100" dirty="0" smtClean="0"/>
              <a:t>PARAMS[]: </a:t>
            </a:r>
            <a:r>
              <a:rPr lang="ja-JP" altLang="en-US" sz="1100" dirty="0" smtClean="0"/>
              <a:t>カメラモデルに対応す</a:t>
            </a:r>
            <a:r>
              <a:rPr lang="ja-JP" altLang="en-US" sz="1100" dirty="0" smtClean="0"/>
              <a:t>る</a:t>
            </a:r>
            <a:r>
              <a:rPr lang="ja-JP" altLang="en-US" sz="1100" dirty="0" smtClean="0"/>
              <a:t>パラメータ</a:t>
            </a:r>
            <a:endParaRPr lang="ja-JP" altLang="en-US" sz="1100" dirty="0" smtClean="0"/>
          </a:p>
          <a:p>
            <a:pPr lvl="1"/>
            <a:endParaRPr lang="en-US" altLang="ja-JP" sz="2600" dirty="0" smtClean="0"/>
          </a:p>
          <a:p>
            <a:r>
              <a:rPr lang="en-US" altLang="ja-JP" sz="3000" dirty="0" smtClean="0"/>
              <a:t>images.txt</a:t>
            </a:r>
          </a:p>
          <a:p>
            <a:pPr lvl="1"/>
            <a:r>
              <a:rPr lang="en-US" altLang="ja-JP" sz="1100" dirty="0" smtClean="0"/>
              <a:t>IMAGE_ID: COLMAP</a:t>
            </a:r>
            <a:r>
              <a:rPr lang="ja-JP" altLang="en-US" sz="1100" dirty="0" smtClean="0"/>
              <a:t>内の画像</a:t>
            </a:r>
            <a:r>
              <a:rPr lang="en-US" altLang="ja-JP" sz="1100" dirty="0" smtClean="0"/>
              <a:t>ID</a:t>
            </a:r>
          </a:p>
          <a:p>
            <a:pPr lvl="1"/>
            <a:r>
              <a:rPr lang="en-US" altLang="ja-JP" sz="1100" dirty="0" smtClean="0"/>
              <a:t>QW</a:t>
            </a:r>
            <a:r>
              <a:rPr lang="ja-JP" altLang="en-US" sz="1100" dirty="0" err="1" smtClean="0"/>
              <a:t>、</a:t>
            </a:r>
            <a:r>
              <a:rPr lang="en-US" altLang="ja-JP" sz="1100" dirty="0" smtClean="0"/>
              <a:t>QX</a:t>
            </a:r>
            <a:r>
              <a:rPr lang="ja-JP" altLang="en-US" sz="1100" dirty="0" err="1" smtClean="0"/>
              <a:t>、</a:t>
            </a:r>
            <a:r>
              <a:rPr lang="en-US" altLang="ja-JP" sz="1100" dirty="0" smtClean="0"/>
              <a:t>QY</a:t>
            </a:r>
            <a:r>
              <a:rPr lang="ja-JP" altLang="en-US" sz="1100" dirty="0" err="1" smtClean="0"/>
              <a:t>、</a:t>
            </a:r>
            <a:r>
              <a:rPr lang="en-US" altLang="ja-JP" sz="1100" dirty="0" smtClean="0"/>
              <a:t>QZ: </a:t>
            </a:r>
            <a:r>
              <a:rPr lang="ja-JP" altLang="en-US" sz="1100" dirty="0" smtClean="0"/>
              <a:t>クォータニオン表記のカメラ回転</a:t>
            </a:r>
          </a:p>
          <a:p>
            <a:pPr lvl="1"/>
            <a:r>
              <a:rPr lang="en-US" altLang="ja-JP" sz="1100" dirty="0" smtClean="0"/>
              <a:t>TX</a:t>
            </a:r>
            <a:r>
              <a:rPr lang="ja-JP" altLang="en-US" sz="1100" dirty="0" err="1" smtClean="0"/>
              <a:t>、</a:t>
            </a:r>
            <a:r>
              <a:rPr lang="en-US" altLang="ja-JP" sz="1100" dirty="0" smtClean="0"/>
              <a:t>TY</a:t>
            </a:r>
            <a:r>
              <a:rPr lang="ja-JP" altLang="en-US" sz="1100" dirty="0" err="1" smtClean="0"/>
              <a:t>、</a:t>
            </a:r>
            <a:r>
              <a:rPr lang="en-US" altLang="ja-JP" sz="1100" dirty="0" smtClean="0"/>
              <a:t>TZ: </a:t>
            </a:r>
            <a:r>
              <a:rPr lang="ja-JP" altLang="en-US" sz="1100" dirty="0" smtClean="0"/>
              <a:t>カメラの移動</a:t>
            </a:r>
          </a:p>
          <a:p>
            <a:pPr lvl="1"/>
            <a:r>
              <a:rPr lang="en-US" altLang="ja-JP" sz="1100" dirty="0" smtClean="0"/>
              <a:t>CAMERA_ID: </a:t>
            </a:r>
            <a:r>
              <a:rPr lang="ja-JP" altLang="en-US" sz="1100" dirty="0" smtClean="0"/>
              <a:t>撮影に利用したカメラのカメラ</a:t>
            </a:r>
            <a:r>
              <a:rPr lang="en-US" altLang="ja-JP" sz="1100" dirty="0" smtClean="0"/>
              <a:t>ID</a:t>
            </a:r>
          </a:p>
          <a:p>
            <a:pPr lvl="1"/>
            <a:r>
              <a:rPr lang="en-US" altLang="ja-JP" sz="1100" dirty="0" smtClean="0"/>
              <a:t>NAME: </a:t>
            </a:r>
            <a:r>
              <a:rPr lang="ja-JP" altLang="en-US" sz="1100" dirty="0" smtClean="0"/>
              <a:t>画像</a:t>
            </a:r>
            <a:r>
              <a:rPr lang="ja-JP" altLang="en-US" sz="1100" dirty="0" smtClean="0"/>
              <a:t>ファイル名</a:t>
            </a:r>
            <a:endParaRPr lang="en-US" altLang="ja-JP" sz="1300" dirty="0" smtClean="0"/>
          </a:p>
          <a:p>
            <a:pPr lvl="1"/>
            <a:r>
              <a:rPr lang="en-US" altLang="ja-JP" sz="1100" dirty="0" smtClean="0"/>
              <a:t>POINTS2D[]: </a:t>
            </a:r>
            <a:r>
              <a:rPr lang="en-US" altLang="ja-JP" sz="1100" dirty="0" err="1" smtClean="0"/>
              <a:t>SfM</a:t>
            </a:r>
            <a:r>
              <a:rPr lang="ja-JP" altLang="en-US" sz="1100" dirty="0" smtClean="0"/>
              <a:t>で復元された点群に対応する画像内の</a:t>
            </a:r>
            <a:r>
              <a:rPr lang="ja-JP" altLang="en-US" sz="1100" dirty="0" smtClean="0"/>
              <a:t>点</a:t>
            </a:r>
            <a:r>
              <a:rPr lang="en-US" altLang="ja-JP" sz="1100" dirty="0" smtClean="0"/>
              <a:t>(</a:t>
            </a:r>
            <a:r>
              <a:rPr lang="en-US" altLang="ja-JP" sz="1100" dirty="0" smtClean="0"/>
              <a:t>X</a:t>
            </a:r>
            <a:r>
              <a:rPr lang="ja-JP" altLang="en-US" sz="1100" dirty="0" err="1" smtClean="0"/>
              <a:t>、</a:t>
            </a:r>
            <a:r>
              <a:rPr lang="en-US" altLang="ja-JP" sz="1100" dirty="0" smtClean="0"/>
              <a:t>Y</a:t>
            </a:r>
            <a:r>
              <a:rPr lang="ja-JP" altLang="en-US" sz="1100" dirty="0" err="1" smtClean="0"/>
              <a:t>、</a:t>
            </a:r>
            <a:r>
              <a:rPr lang="en-US" altLang="ja-JP" sz="1100" dirty="0" smtClean="0"/>
              <a:t>points3d.txt</a:t>
            </a:r>
            <a:r>
              <a:rPr lang="ja-JP" altLang="en-US" sz="1100" dirty="0" smtClean="0"/>
              <a:t>の</a:t>
            </a:r>
            <a:r>
              <a:rPr lang="en-US" altLang="ja-JP" sz="1100" dirty="0" smtClean="0"/>
              <a:t>ID</a:t>
            </a:r>
            <a:r>
              <a:rPr lang="en-US" altLang="ja-JP" sz="1100" dirty="0" smtClean="0"/>
              <a:t>)</a:t>
            </a:r>
            <a:endParaRPr kumimoji="1" lang="en-US" altLang="ja-JP" sz="1300" dirty="0" smtClean="0"/>
          </a:p>
          <a:p>
            <a:pPr lvl="1"/>
            <a:endParaRPr lang="en-US" altLang="ja-JP" sz="2600" dirty="0" smtClean="0"/>
          </a:p>
          <a:p>
            <a:r>
              <a:rPr lang="en-US" altLang="ja-JP" sz="3000" dirty="0" smtClean="0"/>
              <a:t>points3D.txt</a:t>
            </a:r>
          </a:p>
          <a:p>
            <a:pPr lvl="1"/>
            <a:r>
              <a:rPr lang="en-US" altLang="ja-JP" sz="1100" dirty="0" smtClean="0"/>
              <a:t>POINT3D_ID: </a:t>
            </a:r>
            <a:r>
              <a:rPr lang="ja-JP" altLang="en-US" sz="1100" dirty="0" smtClean="0"/>
              <a:t>点群における点の</a:t>
            </a:r>
            <a:r>
              <a:rPr lang="en-US" altLang="ja-JP" sz="1100" dirty="0" smtClean="0"/>
              <a:t>ID</a:t>
            </a:r>
          </a:p>
          <a:p>
            <a:pPr lvl="1"/>
            <a:r>
              <a:rPr lang="en-US" altLang="ja-JP" sz="1100" dirty="0" smtClean="0"/>
              <a:t>X</a:t>
            </a:r>
            <a:r>
              <a:rPr lang="ja-JP" altLang="en-US" sz="1100" dirty="0" err="1" smtClean="0"/>
              <a:t>、</a:t>
            </a:r>
            <a:r>
              <a:rPr lang="en-US" altLang="ja-JP" sz="1100" dirty="0" smtClean="0"/>
              <a:t>Y</a:t>
            </a:r>
            <a:r>
              <a:rPr lang="ja-JP" altLang="en-US" sz="1100" dirty="0" err="1" smtClean="0"/>
              <a:t>、</a:t>
            </a:r>
            <a:r>
              <a:rPr lang="en-US" altLang="ja-JP" sz="1100" dirty="0" smtClean="0"/>
              <a:t>Z: </a:t>
            </a:r>
            <a:r>
              <a:rPr lang="ja-JP" altLang="en-US" sz="1100" dirty="0" smtClean="0"/>
              <a:t>点の座標</a:t>
            </a:r>
          </a:p>
          <a:p>
            <a:pPr lvl="1"/>
            <a:r>
              <a:rPr lang="en-US" altLang="ja-JP" sz="1100" dirty="0" smtClean="0"/>
              <a:t>R</a:t>
            </a:r>
            <a:r>
              <a:rPr lang="ja-JP" altLang="en-US" sz="1100" dirty="0" err="1" smtClean="0"/>
              <a:t>、</a:t>
            </a:r>
            <a:r>
              <a:rPr lang="en-US" altLang="ja-JP" sz="1100" dirty="0" smtClean="0"/>
              <a:t>G</a:t>
            </a:r>
            <a:r>
              <a:rPr lang="ja-JP" altLang="en-US" sz="1100" dirty="0" err="1" smtClean="0"/>
              <a:t>、</a:t>
            </a:r>
            <a:r>
              <a:rPr lang="en-US" altLang="ja-JP" sz="1100" dirty="0" smtClean="0"/>
              <a:t>B: </a:t>
            </a:r>
            <a:r>
              <a:rPr lang="ja-JP" altLang="en-US" sz="1100" dirty="0" smtClean="0"/>
              <a:t>点の色</a:t>
            </a:r>
          </a:p>
          <a:p>
            <a:pPr lvl="1"/>
            <a:r>
              <a:rPr lang="en-US" altLang="ja-JP" sz="1100" dirty="0" smtClean="0"/>
              <a:t>ERROR: </a:t>
            </a:r>
            <a:r>
              <a:rPr lang="en-US" altLang="ja-JP" sz="1100" dirty="0" err="1" smtClean="0"/>
              <a:t>SfM</a:t>
            </a:r>
            <a:r>
              <a:rPr lang="ja-JP" altLang="en-US" sz="1100" dirty="0" smtClean="0"/>
              <a:t>における推定誤差</a:t>
            </a:r>
          </a:p>
          <a:p>
            <a:pPr lvl="1"/>
            <a:r>
              <a:rPr lang="en-US" altLang="ja-JP" sz="1100" dirty="0" smtClean="0"/>
              <a:t>TRACK[]: images.txt</a:t>
            </a:r>
            <a:r>
              <a:rPr lang="ja-JP" altLang="en-US" sz="1100" dirty="0" smtClean="0"/>
              <a:t>の画像との</a:t>
            </a:r>
            <a:r>
              <a:rPr lang="ja-JP" altLang="en-US" sz="1100" dirty="0" smtClean="0"/>
              <a:t>対応</a:t>
            </a:r>
            <a:r>
              <a:rPr lang="en-US" altLang="ja-JP" sz="1100" dirty="0" smtClean="0"/>
              <a:t>(</a:t>
            </a:r>
            <a:r>
              <a:rPr lang="ja-JP" altLang="en-US" sz="1100" dirty="0" smtClean="0"/>
              <a:t>画像</a:t>
            </a:r>
            <a:r>
              <a:rPr lang="en-US" altLang="ja-JP" sz="1100" dirty="0" smtClean="0"/>
              <a:t>ID</a:t>
            </a:r>
            <a:r>
              <a:rPr lang="ja-JP" altLang="en-US" sz="1100" dirty="0" err="1" smtClean="0"/>
              <a:t>、</a:t>
            </a:r>
            <a:r>
              <a:rPr lang="en-US" altLang="ja-JP" sz="1100" dirty="0" smtClean="0"/>
              <a:t>images.txt</a:t>
            </a:r>
            <a:r>
              <a:rPr lang="ja-JP" altLang="en-US" sz="1100" dirty="0" smtClean="0"/>
              <a:t>の特徴点の</a:t>
            </a:r>
            <a:r>
              <a:rPr lang="en-US" altLang="ja-JP" sz="1100" dirty="0" smtClean="0"/>
              <a:t>index)</a:t>
            </a:r>
            <a:endParaRPr lang="ja-JP" altLang="en-US" sz="1100" dirty="0" smtClean="0"/>
          </a:p>
          <a:p>
            <a:pPr lvl="1"/>
            <a:endParaRPr kumimoji="1" lang="en-US" altLang="ja-JP" sz="2600" dirty="0" smtClean="0"/>
          </a:p>
          <a:p>
            <a:endParaRPr kumimoji="1" lang="ja-JP" altLang="en-US" dirty="0"/>
          </a:p>
        </p:txBody>
      </p:sp>
      <p:pic>
        <p:nvPicPr>
          <p:cNvPr id="1026" name="Picture 2"/>
          <p:cNvPicPr>
            <a:picLocks noChangeAspect="1" noChangeArrowheads="1"/>
          </p:cNvPicPr>
          <p:nvPr/>
        </p:nvPicPr>
        <p:blipFill>
          <a:blip r:embed="rId3" cstate="print"/>
          <a:srcRect/>
          <a:stretch>
            <a:fillRect/>
          </a:stretch>
        </p:blipFill>
        <p:spPr bwMode="auto">
          <a:xfrm>
            <a:off x="4211960" y="1203598"/>
            <a:ext cx="4536504" cy="822196"/>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srcRect/>
          <a:stretch>
            <a:fillRect/>
          </a:stretch>
        </p:blipFill>
        <p:spPr bwMode="auto">
          <a:xfrm>
            <a:off x="4211960" y="2139702"/>
            <a:ext cx="4536504" cy="1036362"/>
          </a:xfrm>
          <a:prstGeom prst="rect">
            <a:avLst/>
          </a:prstGeom>
          <a:noFill/>
          <a:ln w="9525">
            <a:noFill/>
            <a:miter lim="800000"/>
            <a:headEnd/>
            <a:tailEnd/>
          </a:ln>
        </p:spPr>
      </p:pic>
      <p:pic>
        <p:nvPicPr>
          <p:cNvPr id="1028" name="Picture 4"/>
          <p:cNvPicPr>
            <a:picLocks noChangeAspect="1" noChangeArrowheads="1"/>
          </p:cNvPicPr>
          <p:nvPr/>
        </p:nvPicPr>
        <p:blipFill>
          <a:blip r:embed="rId5" cstate="print"/>
          <a:srcRect/>
          <a:stretch>
            <a:fillRect/>
          </a:stretch>
        </p:blipFill>
        <p:spPr bwMode="auto">
          <a:xfrm>
            <a:off x="4211960" y="3579862"/>
            <a:ext cx="4536503" cy="843889"/>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51520" y="205978"/>
            <a:ext cx="8568952" cy="857250"/>
          </a:xfrm>
        </p:spPr>
        <p:txBody>
          <a:bodyPr>
            <a:normAutofit fontScale="90000"/>
          </a:bodyPr>
          <a:lstStyle/>
          <a:p>
            <a:r>
              <a:rPr kumimoji="1" lang="en-US" altLang="ja-JP" dirty="0" err="1" smtClean="0"/>
              <a:t>Colmap</a:t>
            </a:r>
            <a:r>
              <a:rPr kumimoji="1" lang="ja-JP" altLang="en-US" dirty="0" smtClean="0"/>
              <a:t>のカメラモデル</a:t>
            </a:r>
            <a:r>
              <a:rPr kumimoji="1" lang="en-US" altLang="ja-JP" dirty="0" smtClean="0"/>
              <a:t>(</a:t>
            </a:r>
            <a:r>
              <a:rPr kumimoji="1" lang="ja-JP" altLang="en-US" dirty="0" smtClean="0"/>
              <a:t>内部パラメータ</a:t>
            </a:r>
            <a:r>
              <a:rPr kumimoji="1" lang="en-US" altLang="ja-JP" dirty="0" smtClean="0"/>
              <a:t>)</a:t>
            </a:r>
            <a:endParaRPr kumimoji="1" lang="ja-JP" altLang="en-US" dirty="0"/>
          </a:p>
        </p:txBody>
      </p:sp>
      <p:graphicFrame>
        <p:nvGraphicFramePr>
          <p:cNvPr id="4" name="コンテンツ プレースホルダ 3"/>
          <p:cNvGraphicFramePr>
            <a:graphicFrameLocks noGrp="1"/>
          </p:cNvGraphicFramePr>
          <p:nvPr>
            <p:ph idx="1"/>
          </p:nvPr>
        </p:nvGraphicFramePr>
        <p:xfrm>
          <a:off x="457200" y="1131590"/>
          <a:ext cx="8229600" cy="2984500"/>
        </p:xfrm>
        <a:graphic>
          <a:graphicData uri="http://schemas.openxmlformats.org/drawingml/2006/table">
            <a:tbl>
              <a:tblPr firstRow="1" bandRow="1">
                <a:tableStyleId>{5C22544A-7EE6-4342-B048-85BDC9FD1C3A}</a:tableStyleId>
              </a:tblPr>
              <a:tblGrid>
                <a:gridCol w="4114800"/>
                <a:gridCol w="4114800"/>
              </a:tblGrid>
              <a:tr h="370840">
                <a:tc>
                  <a:txBody>
                    <a:bodyPr/>
                    <a:lstStyle/>
                    <a:p>
                      <a:r>
                        <a:rPr kumimoji="1" lang="ja-JP" altLang="en-US" dirty="0" smtClean="0"/>
                        <a:t>カメラモデル</a:t>
                      </a:r>
                      <a:endParaRPr kumimoji="1" lang="ja-JP" altLang="en-US" dirty="0"/>
                    </a:p>
                  </a:txBody>
                  <a:tcPr/>
                </a:tc>
                <a:tc>
                  <a:txBody>
                    <a:bodyPr/>
                    <a:lstStyle/>
                    <a:p>
                      <a:r>
                        <a:rPr kumimoji="1" lang="ja-JP" altLang="en-US" dirty="0" smtClean="0"/>
                        <a:t>パラメータ</a:t>
                      </a:r>
                      <a:endParaRPr kumimoji="1" lang="ja-JP" altLang="en-US" dirty="0"/>
                    </a:p>
                  </a:txBody>
                  <a:tcPr/>
                </a:tc>
              </a:tr>
              <a:tr h="370840">
                <a:tc>
                  <a:txBody>
                    <a:bodyPr/>
                    <a:lstStyle/>
                    <a:p>
                      <a:r>
                        <a:rPr lang="en-US" dirty="0"/>
                        <a:t>SIMPLE_PINHOLE</a:t>
                      </a:r>
                    </a:p>
                  </a:txBody>
                  <a:tcPr marL="123825" marR="123825" marT="57150" marB="57150" anchor="ctr"/>
                </a:tc>
                <a:tc>
                  <a:txBody>
                    <a:bodyPr/>
                    <a:lstStyle/>
                    <a:p>
                      <a:r>
                        <a:rPr kumimoji="1" lang="en-US" altLang="ja-JP" dirty="0" smtClean="0"/>
                        <a:t>f, </a:t>
                      </a:r>
                      <a:r>
                        <a:rPr kumimoji="1" lang="en-US" altLang="ja-JP" dirty="0" err="1" smtClean="0"/>
                        <a:t>cx</a:t>
                      </a:r>
                      <a:r>
                        <a:rPr kumimoji="1" lang="en-US" altLang="ja-JP" dirty="0" smtClean="0"/>
                        <a:t>, cy</a:t>
                      </a:r>
                      <a:endParaRPr kumimoji="1" lang="ja-JP" altLang="en-US" dirty="0"/>
                    </a:p>
                  </a:txBody>
                  <a:tcPr/>
                </a:tc>
              </a:tr>
              <a:tr h="370840">
                <a:tc>
                  <a:txBody>
                    <a:bodyPr/>
                    <a:lstStyle/>
                    <a:p>
                      <a:r>
                        <a:rPr kumimoji="1" lang="en-US" altLang="ja-JP" sz="1800" b="0" i="0" kern="1200" dirty="0" smtClean="0">
                          <a:solidFill>
                            <a:schemeClr val="dk1"/>
                          </a:solidFill>
                          <a:latin typeface="+mn-lt"/>
                          <a:ea typeface="+mn-ea"/>
                          <a:cs typeface="+mn-cs"/>
                        </a:rPr>
                        <a:t>PINHOLE</a:t>
                      </a:r>
                      <a:endParaRPr kumimoji="1" lang="ja-JP" altLang="en-US" dirty="0"/>
                    </a:p>
                  </a:txBody>
                  <a:tcPr/>
                </a:tc>
                <a:tc>
                  <a:txBody>
                    <a:bodyPr/>
                    <a:lstStyle/>
                    <a:p>
                      <a:r>
                        <a:rPr kumimoji="1" lang="en-US" altLang="ja-JP" dirty="0" err="1" smtClean="0"/>
                        <a:t>fx</a:t>
                      </a:r>
                      <a:r>
                        <a:rPr kumimoji="1" lang="en-US" altLang="ja-JP" dirty="0" smtClean="0"/>
                        <a:t>, </a:t>
                      </a:r>
                      <a:r>
                        <a:rPr kumimoji="1" lang="en-US" altLang="ja-JP" dirty="0" err="1" smtClean="0"/>
                        <a:t>fy</a:t>
                      </a:r>
                      <a:r>
                        <a:rPr kumimoji="1" lang="en-US" altLang="ja-JP" dirty="0" smtClean="0"/>
                        <a:t>, </a:t>
                      </a:r>
                      <a:r>
                        <a:rPr kumimoji="1" lang="en-US" altLang="ja-JP" dirty="0" err="1" smtClean="0"/>
                        <a:t>cx</a:t>
                      </a:r>
                      <a:r>
                        <a:rPr kumimoji="1" lang="en-US" altLang="ja-JP" dirty="0" smtClean="0"/>
                        <a:t>, cy</a:t>
                      </a:r>
                      <a:endParaRPr kumimoji="1" lang="ja-JP" altLang="en-US" dirty="0"/>
                    </a:p>
                  </a:txBody>
                  <a:tcPr/>
                </a:tc>
              </a:tr>
              <a:tr h="370840">
                <a:tc>
                  <a:txBody>
                    <a:bodyPr/>
                    <a:lstStyle/>
                    <a:p>
                      <a:r>
                        <a:rPr kumimoji="1" lang="en-US" altLang="ja-JP" dirty="0" smtClean="0"/>
                        <a:t>SIMPLE_RADIAL</a:t>
                      </a:r>
                      <a:endParaRPr kumimoji="1" lang="ja-JP"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pl-PL" altLang="ja-JP" dirty="0" smtClean="0"/>
                        <a:t>f, cx, cy, k</a:t>
                      </a:r>
                      <a:endParaRPr kumimoji="1" lang="ja-JP" altLang="en-US" dirty="0" smtClean="0"/>
                    </a:p>
                  </a:txBody>
                  <a:tcPr/>
                </a:tc>
              </a:tr>
              <a:tr h="370840">
                <a:tc>
                  <a:txBody>
                    <a:bodyPr/>
                    <a:lstStyle/>
                    <a:p>
                      <a:r>
                        <a:rPr kumimoji="1" lang="en-US" altLang="ja-JP" dirty="0" smtClean="0"/>
                        <a:t>RADIAL</a:t>
                      </a:r>
                      <a:endParaRPr kumimoji="1" lang="ja-JP"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pl-PL" altLang="ja-JP" dirty="0" smtClean="0"/>
                        <a:t>f, cx, cy, k1, k2</a:t>
                      </a:r>
                      <a:endParaRPr kumimoji="1" lang="ja-JP" altLang="en-US" dirty="0" smtClean="0"/>
                    </a:p>
                  </a:txBody>
                  <a:tcPr/>
                </a:tc>
              </a:tr>
              <a:tr h="370840">
                <a:tc>
                  <a:txBody>
                    <a:bodyPr/>
                    <a:lstStyle/>
                    <a:p>
                      <a:r>
                        <a:rPr kumimoji="1" lang="en-US" altLang="ja-JP" dirty="0" err="1" smtClean="0"/>
                        <a:t>OpenCV</a:t>
                      </a:r>
                      <a:endParaRPr kumimoji="1" lang="ja-JP" altLang="en-US" dirty="0"/>
                    </a:p>
                  </a:txBody>
                  <a:tcPr/>
                </a:tc>
                <a:tc>
                  <a:txBody>
                    <a:bodyPr/>
                    <a:lstStyle/>
                    <a:p>
                      <a:r>
                        <a:rPr kumimoji="1" lang="en-US" altLang="ja-JP" dirty="0" err="1" smtClean="0"/>
                        <a:t>fx</a:t>
                      </a:r>
                      <a:r>
                        <a:rPr kumimoji="1" lang="en-US" altLang="ja-JP" dirty="0" smtClean="0"/>
                        <a:t>, </a:t>
                      </a:r>
                      <a:r>
                        <a:rPr kumimoji="1" lang="en-US" altLang="ja-JP" dirty="0" err="1" smtClean="0"/>
                        <a:t>fy</a:t>
                      </a:r>
                      <a:r>
                        <a:rPr kumimoji="1" lang="en-US" altLang="ja-JP" dirty="0" smtClean="0"/>
                        <a:t>, </a:t>
                      </a:r>
                      <a:r>
                        <a:rPr kumimoji="1" lang="en-US" altLang="ja-JP" dirty="0" err="1" smtClean="0"/>
                        <a:t>cx</a:t>
                      </a:r>
                      <a:r>
                        <a:rPr kumimoji="1" lang="en-US" altLang="ja-JP" dirty="0" smtClean="0"/>
                        <a:t>, cy, k1, k2, k3, k4</a:t>
                      </a:r>
                      <a:endParaRPr kumimoji="1" lang="ja-JP" altLang="en-US" dirty="0"/>
                    </a:p>
                  </a:txBody>
                  <a:tcPr/>
                </a:tc>
              </a:tr>
              <a:tr h="370840">
                <a:tc>
                  <a:txBody>
                    <a:bodyPr/>
                    <a:lstStyle/>
                    <a:p>
                      <a:r>
                        <a:rPr kumimoji="1" lang="en-US" altLang="ja-JP" b="1" dirty="0" smtClean="0"/>
                        <a:t>OPENCV_FISHEYE</a:t>
                      </a:r>
                      <a:endParaRPr kumimoji="1" lang="ja-JP" altLang="en-US" b="1" dirty="0"/>
                    </a:p>
                  </a:txBody>
                  <a:tcPr/>
                </a:tc>
                <a:tc>
                  <a:txBody>
                    <a:bodyPr/>
                    <a:lstStyle/>
                    <a:p>
                      <a:r>
                        <a:rPr kumimoji="1" lang="en-US" altLang="ja-JP" b="1" dirty="0" err="1" smtClean="0"/>
                        <a:t>fx</a:t>
                      </a:r>
                      <a:r>
                        <a:rPr kumimoji="1" lang="en-US" altLang="ja-JP" b="1" dirty="0" smtClean="0"/>
                        <a:t>, </a:t>
                      </a:r>
                      <a:r>
                        <a:rPr kumimoji="1" lang="en-US" altLang="ja-JP" b="1" dirty="0" err="1" smtClean="0"/>
                        <a:t>fy</a:t>
                      </a:r>
                      <a:r>
                        <a:rPr kumimoji="1" lang="en-US" altLang="ja-JP" b="1" dirty="0" smtClean="0"/>
                        <a:t>, </a:t>
                      </a:r>
                      <a:r>
                        <a:rPr kumimoji="1" lang="en-US" altLang="ja-JP" b="1" dirty="0" err="1" smtClean="0"/>
                        <a:t>cx</a:t>
                      </a:r>
                      <a:r>
                        <a:rPr kumimoji="1" lang="en-US" altLang="ja-JP" b="1" dirty="0" smtClean="0"/>
                        <a:t>, cy, k1, k2, p1, p2, k3, k4, k5, k6</a:t>
                      </a:r>
                      <a:endParaRPr kumimoji="1" lang="ja-JP" altLang="en-US" b="1" dirty="0"/>
                    </a:p>
                  </a:txBody>
                  <a:tcPr/>
                </a:tc>
              </a:tr>
              <a:tr h="370840">
                <a:tc>
                  <a:txBody>
                    <a:bodyPr/>
                    <a:lstStyle/>
                    <a:p>
                      <a:r>
                        <a:rPr kumimoji="1" lang="en-US" altLang="ja-JP" dirty="0" smtClean="0"/>
                        <a:t>FULL_OPENCV</a:t>
                      </a:r>
                      <a:endParaRPr kumimoji="1" lang="ja-JP" altLang="en-US" dirty="0"/>
                    </a:p>
                  </a:txBody>
                  <a:tcPr/>
                </a:tc>
                <a:tc>
                  <a:txBody>
                    <a:bodyPr/>
                    <a:lstStyle/>
                    <a:p>
                      <a:r>
                        <a:rPr kumimoji="1" lang="en-US" altLang="ja-JP" dirty="0" err="1" smtClean="0"/>
                        <a:t>fx</a:t>
                      </a:r>
                      <a:r>
                        <a:rPr kumimoji="1" lang="en-US" altLang="ja-JP" dirty="0" smtClean="0"/>
                        <a:t>, </a:t>
                      </a:r>
                      <a:r>
                        <a:rPr kumimoji="1" lang="en-US" altLang="ja-JP" dirty="0" err="1" smtClean="0"/>
                        <a:t>fy</a:t>
                      </a:r>
                      <a:r>
                        <a:rPr kumimoji="1" lang="en-US" altLang="ja-JP" dirty="0" smtClean="0"/>
                        <a:t>, </a:t>
                      </a:r>
                      <a:r>
                        <a:rPr kumimoji="1" lang="en-US" altLang="ja-JP" dirty="0" err="1" smtClean="0"/>
                        <a:t>cx</a:t>
                      </a:r>
                      <a:r>
                        <a:rPr kumimoji="1" lang="en-US" altLang="ja-JP" dirty="0" smtClean="0"/>
                        <a:t>, cy, k1, k2, p1, p2, k3, k4, k5, k6</a:t>
                      </a:r>
                      <a:endParaRPr kumimoji="1" lang="ja-JP" altLang="en-US" dirty="0"/>
                    </a:p>
                  </a:txBody>
                  <a:tcPr/>
                </a:tc>
              </a:tr>
            </a:tbl>
          </a:graphicData>
        </a:graphic>
      </p:graphicFrame>
      <p:sp>
        <p:nvSpPr>
          <p:cNvPr id="5" name="コンテンツ プレースホルダ 2"/>
          <p:cNvSpPr txBox="1">
            <a:spLocks/>
          </p:cNvSpPr>
          <p:nvPr/>
        </p:nvSpPr>
        <p:spPr>
          <a:xfrm>
            <a:off x="457200" y="4227934"/>
            <a:ext cx="8229600" cy="792088"/>
          </a:xfrm>
          <a:prstGeom prst="rect">
            <a:avLst/>
          </a:prstGeom>
        </p:spPr>
        <p:txBody>
          <a:bodyPr vert="horz" lIns="91440" tIns="45720" rIns="91440" bIns="45720" rtlCol="0">
            <a:normAutofit fontScale="625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1" lang="ja-JP" altLang="en-US" sz="3200" b="0" i="0" u="none" strike="noStrike" kern="1200" cap="none" spc="0" normalizeH="0" baseline="0" noProof="0" dirty="0" smtClean="0">
                <a:ln>
                  <a:noFill/>
                </a:ln>
                <a:solidFill>
                  <a:schemeClr val="tx1"/>
                </a:solidFill>
                <a:effectLst/>
                <a:uLnTx/>
                <a:uFillTx/>
                <a:latin typeface="+mn-lt"/>
                <a:ea typeface="+mn-ea"/>
                <a:cs typeface="+mn-cs"/>
              </a:rPr>
              <a:t>参考</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1" lang="en-US" altLang="ja-JP" sz="2800" b="0" i="0" u="none" strike="noStrike" kern="1200" cap="none" spc="0" normalizeH="0" baseline="0" noProof="0" dirty="0" smtClean="0">
                <a:ln>
                  <a:noFill/>
                </a:ln>
                <a:solidFill>
                  <a:schemeClr val="tx1"/>
                </a:solidFill>
                <a:effectLst/>
                <a:uLnTx/>
                <a:uFillTx/>
                <a:latin typeface="+mn-lt"/>
                <a:ea typeface="+mn-ea"/>
                <a:cs typeface="+mn-cs"/>
                <a:hlinkClick r:id="rId2"/>
              </a:rPr>
              <a:t>https://github.com/colmap/colmap/blob/main/src/colmap/sensor/models.h</a:t>
            </a:r>
            <a:endParaRPr kumimoji="1" lang="en-US" altLang="ja-JP" sz="2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1" lang="ja-JP" altLang="en-US" sz="3200" b="0" i="0" u="none" strike="noStrike" kern="1200" cap="none" spc="0" normalizeH="0" baseline="0" noProof="0" dirty="0">
              <a:ln>
                <a:noFill/>
              </a:ln>
              <a:solidFill>
                <a:schemeClr val="tx1"/>
              </a:solidFill>
              <a:effectLst/>
              <a:uLnTx/>
              <a:uFillTx/>
              <a:latin typeface="+mn-lt"/>
              <a:ea typeface="+mn-ea"/>
              <a:cs typeface="+mn-cs"/>
            </a:endParaRPr>
          </a:p>
        </p:txBody>
      </p:sp>
      <p:pic>
        <p:nvPicPr>
          <p:cNvPr id="2050" name="Picture 2"/>
          <p:cNvPicPr>
            <a:picLocks noChangeAspect="1" noChangeArrowheads="1"/>
          </p:cNvPicPr>
          <p:nvPr/>
        </p:nvPicPr>
        <p:blipFill>
          <a:blip r:embed="rId3" cstate="print"/>
          <a:srcRect/>
          <a:stretch>
            <a:fillRect/>
          </a:stretch>
        </p:blipFill>
        <p:spPr bwMode="auto">
          <a:xfrm>
            <a:off x="6939996" y="1851670"/>
            <a:ext cx="2204004" cy="792088"/>
          </a:xfrm>
          <a:prstGeom prst="rect">
            <a:avLst/>
          </a:prstGeom>
          <a:noFill/>
          <a:ln w="9525">
            <a:noFill/>
            <a:miter lim="800000"/>
            <a:headEnd/>
            <a:tailEnd/>
          </a:ln>
        </p:spPr>
      </p:pic>
      <p:pic>
        <p:nvPicPr>
          <p:cNvPr id="2051" name="Picture 3"/>
          <p:cNvPicPr>
            <a:picLocks noChangeAspect="1" noChangeArrowheads="1"/>
          </p:cNvPicPr>
          <p:nvPr/>
        </p:nvPicPr>
        <p:blipFill>
          <a:blip r:embed="rId4" cstate="print"/>
          <a:srcRect/>
          <a:stretch>
            <a:fillRect/>
          </a:stretch>
        </p:blipFill>
        <p:spPr bwMode="auto">
          <a:xfrm>
            <a:off x="7888287" y="843558"/>
            <a:ext cx="1255713" cy="828675"/>
          </a:xfrm>
          <a:prstGeom prst="rect">
            <a:avLst/>
          </a:prstGeom>
          <a:noFill/>
          <a:ln w="9525">
            <a:noFill/>
            <a:miter lim="800000"/>
            <a:headEnd/>
            <a:tailEnd/>
          </a:ln>
        </p:spPr>
      </p:pic>
      <p:sp>
        <p:nvSpPr>
          <p:cNvPr id="8" name="正方形/長方形 7"/>
          <p:cNvSpPr/>
          <p:nvPr/>
        </p:nvSpPr>
        <p:spPr>
          <a:xfrm>
            <a:off x="2339752" y="4155926"/>
            <a:ext cx="4220643" cy="369332"/>
          </a:xfrm>
          <a:prstGeom prst="rect">
            <a:avLst/>
          </a:prstGeom>
        </p:spPr>
        <p:txBody>
          <a:bodyPr wrap="none">
            <a:spAutoFit/>
          </a:bodyPr>
          <a:lstStyle/>
          <a:p>
            <a:r>
              <a:rPr lang="en-US" altLang="ja-JP" dirty="0" err="1" smtClean="0"/>
              <a:t>DriveStudio</a:t>
            </a:r>
            <a:r>
              <a:rPr lang="en-US" altLang="ja-JP" dirty="0" smtClean="0"/>
              <a:t>:[</a:t>
            </a:r>
            <a:r>
              <a:rPr lang="en-US" altLang="ja-JP" dirty="0" err="1" smtClean="0"/>
              <a:t>fx</a:t>
            </a:r>
            <a:r>
              <a:rPr lang="en-US" altLang="ja-JP" dirty="0" smtClean="0"/>
              <a:t>, </a:t>
            </a:r>
            <a:r>
              <a:rPr lang="en-US" altLang="ja-JP" dirty="0" err="1" smtClean="0"/>
              <a:t>fy</a:t>
            </a:r>
            <a:r>
              <a:rPr lang="en-US" altLang="ja-JP" dirty="0" smtClean="0"/>
              <a:t>, </a:t>
            </a:r>
            <a:r>
              <a:rPr lang="en-US" altLang="ja-JP" dirty="0" err="1" smtClean="0"/>
              <a:t>cx</a:t>
            </a:r>
            <a:r>
              <a:rPr lang="en-US" altLang="ja-JP" dirty="0" smtClean="0"/>
              <a:t>, cy, k1, k2, p1, p2, k3]</a:t>
            </a:r>
            <a:endParaRPr lang="ja-JP"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a:p>
        </p:txBody>
      </p:sp>
      <p:sp>
        <p:nvSpPr>
          <p:cNvPr id="3" name="コンテンツ プレースホルダ 2"/>
          <p:cNvSpPr>
            <a:spLocks noGrp="1"/>
          </p:cNvSpPr>
          <p:nvPr>
            <p:ph idx="1"/>
          </p:nvPr>
        </p:nvSpPr>
        <p:spPr/>
        <p:txBody>
          <a:bodyPr/>
          <a:lstStyle/>
          <a:p>
            <a:endParaRPr kumimoji="1" lang="ja-JP"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a:p>
        </p:txBody>
      </p:sp>
      <p:sp>
        <p:nvSpPr>
          <p:cNvPr id="3" name="コンテンツ プレースホルダ 2"/>
          <p:cNvSpPr>
            <a:spLocks noGrp="1"/>
          </p:cNvSpPr>
          <p:nvPr>
            <p:ph idx="1"/>
          </p:nvPr>
        </p:nvSpPr>
        <p:spPr/>
        <p:txBody>
          <a:bodyPr/>
          <a:lstStyle/>
          <a:p>
            <a:r>
              <a:rPr lang="en-US" altLang="ja-JP" dirty="0" err="1" smtClean="0"/>
              <a:t>Colmap</a:t>
            </a:r>
            <a:r>
              <a:rPr lang="ja-JP" altLang="en-US" dirty="0" smtClean="0"/>
              <a:t>センサモデル、パラメータ</a:t>
            </a:r>
            <a:endParaRPr lang="ja-JP" altLang="en-US" dirty="0" smtClean="0"/>
          </a:p>
          <a:p>
            <a:pPr lvl="1"/>
            <a:r>
              <a:rPr lang="en-US" altLang="ja-JP" dirty="0" smtClean="0">
                <a:hlinkClick r:id="rId2"/>
              </a:rPr>
              <a:t>https</a:t>
            </a:r>
            <a:r>
              <a:rPr lang="en-US" altLang="ja-JP" dirty="0" smtClean="0">
                <a:hlinkClick r:id="rId2"/>
              </a:rPr>
              <a:t>://</a:t>
            </a:r>
            <a:r>
              <a:rPr lang="en-US" altLang="ja-JP" dirty="0" smtClean="0">
                <a:hlinkClick r:id="rId2"/>
              </a:rPr>
              <a:t>github.com/colmap/colmap/blob/main/src/colmap/sensor/models.h</a:t>
            </a:r>
            <a:endParaRPr lang="en-US" altLang="ja-JP" dirty="0" smtClean="0"/>
          </a:p>
          <a:p>
            <a:endParaRPr kumimoji="1" lang="ja-JP"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a:p>
        </p:txBody>
      </p:sp>
      <p:sp>
        <p:nvSpPr>
          <p:cNvPr id="3" name="コンテンツ プレースホルダ 2"/>
          <p:cNvSpPr>
            <a:spLocks noGrp="1"/>
          </p:cNvSpPr>
          <p:nvPr>
            <p:ph idx="1"/>
          </p:nvPr>
        </p:nvSpPr>
        <p:spPr/>
        <p:txBody>
          <a:bodyPr/>
          <a:lstStyle/>
          <a:p>
            <a:r>
              <a:rPr lang="en-US" altLang="ja-JP" dirty="0" smtClean="0">
                <a:hlinkClick r:id="rId2"/>
              </a:rPr>
              <a:t>https://</a:t>
            </a:r>
            <a:r>
              <a:rPr lang="en-US" altLang="ja-JP" dirty="0" smtClean="0">
                <a:hlinkClick r:id="rId2"/>
              </a:rPr>
              <a:t>github.com/ALBERT-Inc/NeRF-tutorial/blob/main/README.md</a:t>
            </a:r>
            <a:endParaRPr lang="en-US" altLang="ja-JP" dirty="0" smtClean="0"/>
          </a:p>
          <a:p>
            <a:endParaRPr kumimoji="1" lang="ja-JP" altLang="en-US"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2226</TotalTime>
  <Words>388</Words>
  <Application>Microsoft Office PowerPoint</Application>
  <PresentationFormat>画面に合わせる (16:9)</PresentationFormat>
  <Paragraphs>47</Paragraphs>
  <Slides>5</Slides>
  <Notes>1</Notes>
  <HiddenSlides>0</HiddenSlides>
  <MMClips>0</MMClips>
  <ScaleCrop>false</ScaleCrop>
  <HeadingPairs>
    <vt:vector size="4" baseType="variant">
      <vt:variant>
        <vt:lpstr>テーマ</vt:lpstr>
      </vt:variant>
      <vt:variant>
        <vt:i4>1</vt:i4>
      </vt:variant>
      <vt:variant>
        <vt:lpstr>スライド タイトル</vt:lpstr>
      </vt:variant>
      <vt:variant>
        <vt:i4>5</vt:i4>
      </vt:variant>
    </vt:vector>
  </HeadingPairs>
  <TitlesOfParts>
    <vt:vector size="6" baseType="lpstr">
      <vt:lpstr>Office テーマ</vt:lpstr>
      <vt:lpstr>Colmap出力</vt:lpstr>
      <vt:lpstr>Colmapのカメラモデル(内部パラメータ)</vt:lpstr>
      <vt:lpstr>スライド 3</vt:lpstr>
      <vt:lpstr>スライド 4</vt:lpstr>
      <vt:lpstr>スライド 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atsushi</dc:creator>
  <cp:lastModifiedBy>atsushi</cp:lastModifiedBy>
  <cp:revision>8</cp:revision>
  <dcterms:created xsi:type="dcterms:W3CDTF">2025-03-01T00:58:14Z</dcterms:created>
  <dcterms:modified xsi:type="dcterms:W3CDTF">2025-03-02T14:07:40Z</dcterms:modified>
</cp:coreProperties>
</file>